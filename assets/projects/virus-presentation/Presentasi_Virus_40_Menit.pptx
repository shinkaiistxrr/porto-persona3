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Pembukaan: Hari ini kita akan membahas virus dari dasar—apa itu virus, bagaimana virus berkembang biak, penyakit yang ditimbulkannya, dan cara mencegah infeksi. Materi utama disusun berdasarkan file Virus.pdf yang diberikan.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Ajak audiens menjawab singkat. Jangan langsung menyimpulkan. Jelaskan bahwa virus memiliki beberapa sifat yang mirip makhluk hidup, tetapi juga memiliki sifat seperti benda mati.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alur agar audiens mengetahui bahwa materi bergerak dari pengenalan dasar menuju dampak dan pencegahan.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Uraikan eksperimen secara sederhana. Meyer menularkan getah tanaman sakit ke tanaman sehat. Ivanovsky menyaring getah namun filtratnya tetap menular. Beijerinck menunjukkan agen dapat terus menular dan berbeda dari bakteri. Stanley mengkristalkan partikel penyebab penyakit mosaik tembakau.</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istilah aseluler dan virion. Virus tidak membelah diri seperti sel; virus membuat salinan komponen dan merakit partikel baru menggunakan sel inang.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dua kolom pada slide. Tekankan bahwa kemampuan bereplikasi bergantung pada sel inang, bukan aktivitas mandiri seperti organisme seluler.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bahwa nanometer sangat kecil sehingga virus umumnya diamati dengan mikroskop elektron. Sebutkan bentuk sebagai contoh, bukan daftar untuk dihafal seluruhnya.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ilustrasi bakteriofag bila tersedia. Jelaskan bahwa struktur tiap virus berbeda; tidak semua virus memiliki ekor atau selubung membran.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Bedakan dengan ringkas: virus memiliki DNA atau RNA serta kapsid; viroid berupa RNA telanjang; prion berupa protein infeksius. Hindari terlalu banyak detail penyakit.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konsep kisaran inang: tidak semua virus dapat menginfeksi semua organisme atau semua jenis sel. Penularan berbeda menurut virus.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Perkenalkan kedua siklus terlebih dahulu, lalu gunakan dua slide berikut untuk memecah tahap-tahapnya agar mudah dipahami.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Bantu audiens mengingat urutan dengan frasa sederhana: tempel, masuk, buat, rakit, keluar. Pastikan mereka memahami bahwa lisis adalah tahap pelepasan virus baru.</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Bandingkan dengan litik: sel tidak langsung pecah. Istilah profag digunakan dalam konteks bakteriofag yang menginfeksi bakteri.</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Minta audiens menyebutkan satu perbedaan. Jawaban yang paling penting adalah nasib sel inang dan apakah virus langsung membentuk partikel baru.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Tidak perlu menghafalkan seluruh takson. Fokus pada gagasan bahwa virus dikelompokkan berdasarkan ciri yang dapat dibandingkan. Contoh dalam materi: Filoviridae/Ebolavirus dan Picornaviridae/Enterovirus.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Jelaskan bahwa manfaat bergantung pada penggunaan yang terkendali dan sesuai tujuan. Virus dapat menjadi alat dalam riset, pertanian, dan bioteknologi.</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Kelompokkan berdasarkan inang, jangan menumpuk terlalu banyak gejala. Tekankan contoh yang dekat dengan kehidupan sehari-hari: flu, dengue, rabies, dan tungro.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Tekankan tidak ada satu cara penularan yang berlaku untuk semua virus. Contoh yang baik adalah membedakan dengue yang ditularkan nyamuk dengan rabies yang dapat menular melalui gigitan hewan terinfeksi.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Vaksin membantu sistem imun membentuk respons terhadap patogen. Tambahkan bahwa langkah pencegahan perlu disesuaikan dengan virus dan anjuran tenaga kesehatan.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Gunakan bahasa umum dan aman: pengobatan tergantung jenis infeksi, kondisi pasien, dan panduan medis. Jangan memberi saran dosis atau menyatakan satu terapi cocok untuk semua virus.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Berikan waktu 30–45 detik untuk menjawab berpasangan, lalu bahas jawabannya: sel inang; asam nukleat dan kapsid; lisis; dengue melalui nyamuk Aedes atau tungro melalui wereng; vaksinasi dan pola hidup sehat.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Tutup dengan mengulang lima gagasan utama. Sampaikan bahwa memahami cara kerja virus membantu kita memilih tindakan pencegahan yang tepat.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Ucapkan terima kasih, buka sesi pertanyaan, dan siapkan contoh dari materi untuk menjelaskan kembali konsep yang belum dipahami.</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77240" y="1051560"/>
            <a:ext cx="10515600" cy="1234440"/>
          </a:xfrm>
          <a:prstGeom prst="rect">
            <a:avLst/>
          </a:prstGeom>
          <a:noFill/>
        </p:spPr>
        <p:txBody>
          <a:bodyPr wrap="square">
            <a:spAutoFit/>
          </a:bodyPr>
          <a:lstStyle/>
          <a:p>
            <a:pPr>
              <a:defRPr sz="5800" b="1">
                <a:solidFill>
                  <a:srgbClr val="28DCE6"/>
                </a:solidFill>
                <a:latin typeface="Aptos"/>
              </a:defRPr>
            </a:pPr>
            <a:r>
              <a:t>VIRUS</a:t>
            </a:r>
          </a:p>
        </p:txBody>
      </p:sp>
      <p:sp>
        <p:nvSpPr>
          <p:cNvPr id="6" name="TextBox 5"/>
          <p:cNvSpPr txBox="1"/>
          <p:nvPr/>
        </p:nvSpPr>
        <p:spPr>
          <a:xfrm>
            <a:off x="822960" y="2331720"/>
            <a:ext cx="10241280" cy="594360"/>
          </a:xfrm>
          <a:prstGeom prst="rect">
            <a:avLst/>
          </a:prstGeom>
          <a:noFill/>
        </p:spPr>
        <p:txBody>
          <a:bodyPr wrap="square">
            <a:spAutoFit/>
          </a:bodyPr>
          <a:lstStyle/>
          <a:p>
            <a:pPr>
              <a:defRPr sz="2500" b="1">
                <a:solidFill>
                  <a:srgbClr val="F5F8FF"/>
                </a:solidFill>
                <a:latin typeface="Aptos"/>
              </a:defRPr>
            </a:pPr>
            <a:r>
              <a:t>Biologi • Presentasi 40 menit</a:t>
            </a:r>
          </a:p>
        </p:txBody>
      </p:sp>
      <p:sp>
        <p:nvSpPr>
          <p:cNvPr id="7" name="TextBox 6"/>
          <p:cNvSpPr txBox="1"/>
          <p:nvPr/>
        </p:nvSpPr>
        <p:spPr>
          <a:xfrm>
            <a:off x="822960" y="3200400"/>
            <a:ext cx="9875520" cy="1280160"/>
          </a:xfrm>
          <a:prstGeom prst="rect">
            <a:avLst/>
          </a:prstGeom>
          <a:noFill/>
        </p:spPr>
        <p:txBody>
          <a:bodyPr wrap="square">
            <a:spAutoFit/>
          </a:bodyPr>
          <a:lstStyle/>
          <a:p>
            <a:pPr>
              <a:defRPr sz="2000" b="0">
                <a:solidFill>
                  <a:srgbClr val="B4C4DA"/>
                </a:solidFill>
                <a:latin typeface="Aptos"/>
              </a:defRPr>
            </a:pPr>
            <a:r>
              <a:t>Dari struktur mikroskopis hingga pencegahan penyakit</a:t>
            </a:r>
            <a:br/>
            <a:r>
              <a:t>Nama kelompok: … | Kelas: …</a:t>
            </a:r>
          </a:p>
        </p:txBody>
      </p:sp>
      <p:sp>
        <p:nvSpPr>
          <p:cNvPr id="8" name="TextBox 7"/>
          <p:cNvSpPr txBox="1"/>
          <p:nvPr/>
        </p:nvSpPr>
        <p:spPr>
          <a:xfrm>
            <a:off x="822960" y="5897880"/>
            <a:ext cx="8229600" cy="320040"/>
          </a:xfrm>
          <a:prstGeom prst="rect">
            <a:avLst/>
          </a:prstGeom>
          <a:noFill/>
        </p:spPr>
        <p:txBody>
          <a:bodyPr wrap="square">
            <a:spAutoFit/>
          </a:bodyPr>
          <a:lstStyle/>
          <a:p>
            <a:pPr>
              <a:defRPr sz="1200" b="1">
                <a:solidFill>
                  <a:srgbClr val="FFCF5A"/>
                </a:solidFill>
                <a:latin typeface="Aptos"/>
              </a:defRPr>
            </a:pPr>
            <a:r>
              <a:t>BIOLOGI SMA  •  DURASI ±40 MENIT</a:t>
            </a:r>
          </a:p>
        </p:txBody>
      </p:sp>
      <p:sp>
        <p:nvSpPr>
          <p:cNvPr id="9" name="TextBox 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02  /  23     •     1:15</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Pertanyaan pembuka</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Menurut kalian, virus itu makhluk hidup atau benda mati?</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Virus hanya dapat bereplikasi di dalam sel hidup</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Di luar sel, virus tidak melakukan metabolisme</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Kita akan mencari jawabannya dari ciri dan struktur virus</a:t>
            </a:r>
          </a:p>
        </p:txBody>
      </p:sp>
      <p:sp>
        <p:nvSpPr>
          <p:cNvPr id="14" name="TextBox 13"/>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5" name="TextBox 14"/>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03  /  23     •     0:45</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Peta perjalanan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Alur presentasi</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29412"/>
          </a:xfrm>
          <a:prstGeom prst="rect">
            <a:avLst/>
          </a:prstGeom>
          <a:noFill/>
        </p:spPr>
        <p:txBody>
          <a:bodyPr wrap="square">
            <a:spAutoFit/>
          </a:bodyPr>
          <a:lstStyle/>
          <a:p>
            <a:pPr>
              <a:defRPr sz="1700" b="0">
                <a:solidFill>
                  <a:srgbClr val="F5F8FF"/>
                </a:solidFill>
                <a:latin typeface="Aptos"/>
              </a:defRPr>
            </a:pPr>
            <a:r>
              <a:t>1. Sejarah penemuan</a:t>
            </a:r>
          </a:p>
        </p:txBody>
      </p:sp>
      <p:sp>
        <p:nvSpPr>
          <p:cNvPr id="10" name="Oval 9"/>
          <p:cNvSpPr/>
          <p:nvPr/>
        </p:nvSpPr>
        <p:spPr>
          <a:xfrm>
            <a:off x="822960" y="2970276"/>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15412"/>
            <a:ext cx="9921240" cy="629412"/>
          </a:xfrm>
          <a:prstGeom prst="rect">
            <a:avLst/>
          </a:prstGeom>
          <a:noFill/>
        </p:spPr>
        <p:txBody>
          <a:bodyPr wrap="square">
            <a:spAutoFit/>
          </a:bodyPr>
          <a:lstStyle/>
          <a:p>
            <a:pPr>
              <a:defRPr sz="1700" b="0">
                <a:solidFill>
                  <a:srgbClr val="F5F8FF"/>
                </a:solidFill>
                <a:latin typeface="Aptos"/>
              </a:defRPr>
            </a:pPr>
            <a:r>
              <a:t>2. Ciri, ukuran, bentuk, dan struktur</a:t>
            </a:r>
          </a:p>
        </p:txBody>
      </p:sp>
      <p:sp>
        <p:nvSpPr>
          <p:cNvPr id="12" name="Oval 11"/>
          <p:cNvSpPr/>
          <p:nvPr/>
        </p:nvSpPr>
        <p:spPr>
          <a:xfrm>
            <a:off x="822960" y="36179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563112"/>
            <a:ext cx="9921240" cy="629412"/>
          </a:xfrm>
          <a:prstGeom prst="rect">
            <a:avLst/>
          </a:prstGeom>
          <a:noFill/>
        </p:spPr>
        <p:txBody>
          <a:bodyPr wrap="square">
            <a:spAutoFit/>
          </a:bodyPr>
          <a:lstStyle/>
          <a:p>
            <a:pPr>
              <a:defRPr sz="1700" b="0">
                <a:solidFill>
                  <a:srgbClr val="F5F8FF"/>
                </a:solidFill>
                <a:latin typeface="Aptos"/>
              </a:defRPr>
            </a:pPr>
            <a:r>
              <a:t>3. Viroid, prion, dan cara hidup virus</a:t>
            </a:r>
          </a:p>
        </p:txBody>
      </p:sp>
      <p:sp>
        <p:nvSpPr>
          <p:cNvPr id="14" name="Oval 13"/>
          <p:cNvSpPr/>
          <p:nvPr/>
        </p:nvSpPr>
        <p:spPr>
          <a:xfrm>
            <a:off x="822960" y="4265676"/>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210812"/>
            <a:ext cx="9921240" cy="629412"/>
          </a:xfrm>
          <a:prstGeom prst="rect">
            <a:avLst/>
          </a:prstGeom>
          <a:noFill/>
        </p:spPr>
        <p:txBody>
          <a:bodyPr wrap="square">
            <a:spAutoFit/>
          </a:bodyPr>
          <a:lstStyle/>
          <a:p>
            <a:pPr>
              <a:defRPr sz="1700" b="0">
                <a:solidFill>
                  <a:srgbClr val="F5F8FF"/>
                </a:solidFill>
                <a:latin typeface="Aptos"/>
              </a:defRPr>
            </a:pPr>
            <a:r>
              <a:t>4. Replikasi: litik dan lisogenik</a:t>
            </a:r>
          </a:p>
        </p:txBody>
      </p:sp>
      <p:sp>
        <p:nvSpPr>
          <p:cNvPr id="16" name="Oval 15"/>
          <p:cNvSpPr/>
          <p:nvPr/>
        </p:nvSpPr>
        <p:spPr>
          <a:xfrm>
            <a:off x="822960" y="49133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4858512"/>
            <a:ext cx="9921240" cy="629412"/>
          </a:xfrm>
          <a:prstGeom prst="rect">
            <a:avLst/>
          </a:prstGeom>
          <a:noFill/>
        </p:spPr>
        <p:txBody>
          <a:bodyPr wrap="square">
            <a:spAutoFit/>
          </a:bodyPr>
          <a:lstStyle/>
          <a:p>
            <a:pPr>
              <a:defRPr sz="1700" b="0">
                <a:solidFill>
                  <a:srgbClr val="F5F8FF"/>
                </a:solidFill>
                <a:latin typeface="Aptos"/>
              </a:defRPr>
            </a:pPr>
            <a:r>
              <a:t>5. Klasifikasi dan manfaat</a:t>
            </a:r>
          </a:p>
        </p:txBody>
      </p:sp>
      <p:sp>
        <p:nvSpPr>
          <p:cNvPr id="18" name="Oval 17"/>
          <p:cNvSpPr/>
          <p:nvPr/>
        </p:nvSpPr>
        <p:spPr>
          <a:xfrm>
            <a:off x="822960" y="5561075"/>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353312" y="5506212"/>
            <a:ext cx="9921240" cy="629412"/>
          </a:xfrm>
          <a:prstGeom prst="rect">
            <a:avLst/>
          </a:prstGeom>
          <a:noFill/>
        </p:spPr>
        <p:txBody>
          <a:bodyPr wrap="square">
            <a:spAutoFit/>
          </a:bodyPr>
          <a:lstStyle/>
          <a:p>
            <a:pPr>
              <a:defRPr sz="1700" b="0">
                <a:solidFill>
                  <a:srgbClr val="F5F8FF"/>
                </a:solidFill>
                <a:latin typeface="Aptos"/>
              </a:defRPr>
            </a:pPr>
            <a:r>
              <a:t>6. Penyakit, penularan, pencegahan, dan pengobatan</a:t>
            </a:r>
          </a:p>
        </p:txBody>
      </p:sp>
      <p:sp>
        <p:nvSpPr>
          <p:cNvPr id="20" name="TextBox 19"/>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21" name="TextBox 20"/>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04  /  23     •     2:00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Sejarah penemuan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Empat tonggak penting</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1883 — Adolf Meyer: penyakit mosaik tembakau</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1892 — Dmitri Ivanovsky: agen infeksi lolos saringan bakteri</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1897 — Martinus Beijerinck: menyebutnya “filterable virus”</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1935 — Wendell M. Stanley: mengkristalkan partikel penyebab penyakit</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05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Apa itu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Agen aseluler dengan materi genetik</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Bukan sel: tidak memiliki sitoplasma, inti, atau organel</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Memiliki satu jenis asam nukleat: DNA atau RNA</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Berkembang biak hanya dengan bantuan sel hidup</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Partikel virus lengkap disebut virion</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06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Hidup atau benda mati?</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Virus menunjukkan sifat keduanya</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Mirip makhluk hidup: memiliki DNA/RNA dan dapat bereplikasi dalam sel hidup</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Mirip benda mati: tidak bermetabolisme atau bernapas</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Di luar sel hidup, virus dapat berada dalam bentuk kristal</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Kesimpulan: virus sering dipandang sebagai bentuk peralihan</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07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Ukuran dan bentuk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Sangat kecil, bentuknya beragam</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Ukuran dalam materi: sekitar 20–300 nm</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Batang: Tobacco Mosaic Virus (TMV)</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Bulat: HIV dan Orthomyxovirus</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Filamen: Ebola; polihedral: Adenovirus</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Seperti huruf T: bakteriofag</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08  /  23     •     2:00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Struktur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Bagian utama dan fungsinya</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Asam nukleat (DNA atau RNA): membawa informasi genetik</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Kapsid: lapisan protein yang melindungi materi genetik</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Kapsomer: subunit penyusun kapsid</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Sebagian virus memiliki selubung membran</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Pada bakteriofag: kepala, leher, ekor, lempeng dasar, serabut ekor</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09  /  23     •     1:15</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Viroid dan prion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Bukan virus biasa</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Viroid: RNA sirkuler tanpa kapsid; umumnya menginfeksi tumbuhan</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Prion: protein infeksius yang dapat mengubah protein normal</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Viroid memiliki materi RNA; prion tidak memiliki asam nukleat</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Contoh penyakit prion dalam materi: scrapie dan CJD</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10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Cara hidup dan penularan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Parasit intraseluler obligat</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Virus memerlukan sel inang untuk bereplikasi</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Kecocokan reseptor memengaruhi sel yang dapat diinfeksi</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Penularan langsung: misalnya percikan pernapasan atau cairan tubuh</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Penularan melalui perantara: dengue melalui nyamuk Aedes; tungro melalui wereng</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11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Replikasi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Dua pola: daur litik dan lisogenik</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Daur litik: menghasilkan banyak virion baru dan akhirnya memecahkan sel inang</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500" b="0">
                <a:solidFill>
                  <a:srgbClr val="F5F8FF"/>
                </a:solidFill>
                <a:latin typeface="Aptos"/>
              </a:defRPr>
            </a:pPr>
            <a:r>
              <a:t>Daur lisogenik: materi genetik virus bergabung dengan DNA inang dan dapat diwariskan saat sel membelah</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Pada kondisi tertentu, fase lisogenik dapat beralih ke daur litik</a:t>
            </a:r>
          </a:p>
        </p:txBody>
      </p:sp>
      <p:sp>
        <p:nvSpPr>
          <p:cNvPr id="14" name="TextBox 13"/>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5" name="TextBox 14"/>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12  /  23     •     2:00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Daur litik: 5 tahap</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Tempel → masuk → buat → rakit → keluar</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1. Adsorpsi: virus menempel pada reseptor sel</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2. Penetrasi: materi genetik masuk ke sel</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3. Sintesis &amp; replikasi: komponen virus dibuat</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4. Perakitan: komponen menjadi virion baru</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5. Lisis: sel pecah dan virion keluar</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13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Daur lisogenik</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Genom virus dapat “berdiam” lebih dulu</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Virus menempel dan memasukkan materi genetik</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DNA virus bergabung dengan DNA inang membentuk profag</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Saat sel inang membelah, profag ikut diwariskan</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Jika aktif, genom virus dapat masuk ke daur litik</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14  /  23     •     1:00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Bandingkan kedua daur</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Apa perbedaan kuncinya?</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Litik: cepat, membentuk virion baru, sel inang pecah</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Lisogenik: genom virus terintegrasi, sel inang dapat tetap membelah</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Lisogenik bisa beralih ke litik ketika genom virus aktif</a:t>
            </a:r>
          </a:p>
        </p:txBody>
      </p:sp>
      <p:sp>
        <p:nvSpPr>
          <p:cNvPr id="14" name="TextBox 13"/>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5" name="TextBox 14"/>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15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Bagaimana virus diklasifikasikan?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Beberapa dasar klasifikasi</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Jenis asam nukleat: DNA atau RNA</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Ukuran, bentuk, kapsomer, simetri, dan selubung</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Jenis sel inang dan kecocokan reseptor</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Sifat imunologis, enzim, gejala penyakit, dan cara penularan</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Materi juga mengenalkan klasifikasi Baltimore berdasarkan genom dan replikasi</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16  /  23     •     1:15</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Virus juga bisa dimanfaatkan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Tidak semuanya hanya merugikan</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Bahan atau platform untuk pengembangan vaksin</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Rekayasa genetika dan terapi gen</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Pengendalian hama tanaman dengan baculovirus</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Penelitian dan produksi interferon</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Riset bioteknologi serta perangkat berbasis partikel virus</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17  /  23     •     2:00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Penyakit akibat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Dampaknya pada manusia, hewan, dan tumbuhan</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Manusia: influenza, campak, polio, hepatitis, dengue, rabies</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Hewan: rabies, penyakit kuku dan mulut, tetelo</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Tumbuhan: mosaik tembakau, tungro pada padi, daun tomat menguning/menggulung</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Gejala dan tingkat keparahan berbeda menurut virus dan inang</a:t>
            </a:r>
          </a:p>
        </p:txBody>
      </p:sp>
      <p:sp>
        <p:nvSpPr>
          <p:cNvPr id="16" name="TextBox 15"/>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7" name="TextBox 16"/>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18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Cara penularan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Jalur penularan bergantung pada virus</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Percikan atau udara: beberapa virus pernapasan</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Kontak/cairan tubuh: tergantung jenis virus</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Vektor: dengue dan chikungunya melalui nyamuk</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Makanan/air yang tercemar: dapat terjadi pada beberapa infeksi</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Hewan ke manusia: misalnya rabies melalui gigitan atau air liur</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19  /  23     •     1:30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Mencegah infeksi virus</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Pencegahan sesuai jalur penularan</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Vaksinasi sesuai rekomendasi kesehatan</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Cuci tangan dan jaga kebersihan permukaan</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Terapkan etika batuk dan hindari kontak dekat saat sakit</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3M Plus untuk mengurangi tempat berkembang biak nyamuk</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Jaga kesehatan hewan dan hindari kontak dengan satwa liar berisiko</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20  /  23     •     1:15</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Pengobatan dan penanganan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Tidak semua infeksi virus ditangani dengan cara sama</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Antivirus tertentu dapat menghambat proses replikasi virus</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Interferon dibahas dalam materi sebagai protein yang membantu respons terhadap infeksi</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Perawatan pendukung dapat membantu mengelola gejala</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Antibiotik tidak bekerja melawan virus</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Ikuti arahan tenaga kesehatan; jangan mengobati diri sendiri</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21  /  23     •     2:00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Kuis kilat</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Uji pemahaman!</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1. Apa nama sel hidup yang digunakan virus untuk bereplikasi?</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2. Sebutkan dua bagian utama virus.</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3. Tahap apa yang membuat sel inang pecah pada daur litik?</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4. Sebutkan satu contoh virus yang ditularkan melalui vektor.</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5. Sebutkan dua cara pencegahan infeksi virus.</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22  /  23     •     0:45</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Rangkuman</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Lima hal yang perlu diingat</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Virus bersifat aseluler dan membutuhkan sel inang</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Virus memiliki DNA atau RNA, kapsid, dan kadang selubung</a:t>
            </a:r>
          </a:p>
        </p:txBody>
      </p:sp>
      <p:sp>
        <p:nvSpPr>
          <p:cNvPr id="12" name="Oval 11"/>
          <p:cNvSpPr/>
          <p:nvPr/>
        </p:nvSpPr>
        <p:spPr>
          <a:xfrm>
            <a:off x="822960" y="3749039"/>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53312" y="3694176"/>
            <a:ext cx="9921240" cy="694944"/>
          </a:xfrm>
          <a:prstGeom prst="rect">
            <a:avLst/>
          </a:prstGeom>
          <a:noFill/>
        </p:spPr>
        <p:txBody>
          <a:bodyPr wrap="square">
            <a:spAutoFit/>
          </a:bodyPr>
          <a:lstStyle/>
          <a:p>
            <a:pPr>
              <a:defRPr sz="1700" b="0">
                <a:solidFill>
                  <a:srgbClr val="F5F8FF"/>
                </a:solidFill>
                <a:latin typeface="Aptos"/>
              </a:defRPr>
            </a:pPr>
            <a:r>
              <a:t>Daur litik memecahkan sel; daur lisogenik dapat berintegrasi dahulu</a:t>
            </a:r>
          </a:p>
        </p:txBody>
      </p:sp>
      <p:sp>
        <p:nvSpPr>
          <p:cNvPr id="14" name="Oval 13"/>
          <p:cNvSpPr/>
          <p:nvPr/>
        </p:nvSpPr>
        <p:spPr>
          <a:xfrm>
            <a:off x="822960" y="4462272"/>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53312" y="4407408"/>
            <a:ext cx="9921240" cy="694944"/>
          </a:xfrm>
          <a:prstGeom prst="rect">
            <a:avLst/>
          </a:prstGeom>
          <a:noFill/>
        </p:spPr>
        <p:txBody>
          <a:bodyPr wrap="square">
            <a:spAutoFit/>
          </a:bodyPr>
          <a:lstStyle/>
          <a:p>
            <a:pPr>
              <a:defRPr sz="1700" b="0">
                <a:solidFill>
                  <a:srgbClr val="F5F8FF"/>
                </a:solidFill>
                <a:latin typeface="Aptos"/>
              </a:defRPr>
            </a:pPr>
            <a:r>
              <a:t>Virus bisa menyebabkan penyakit, tetapi juga dimanfaatkan dalam bioteknologi</a:t>
            </a:r>
          </a:p>
        </p:txBody>
      </p:sp>
      <p:sp>
        <p:nvSpPr>
          <p:cNvPr id="16" name="Oval 15"/>
          <p:cNvSpPr/>
          <p:nvPr/>
        </p:nvSpPr>
        <p:spPr>
          <a:xfrm>
            <a:off x="822960" y="5175503"/>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53312" y="5120640"/>
            <a:ext cx="9921240" cy="694944"/>
          </a:xfrm>
          <a:prstGeom prst="rect">
            <a:avLst/>
          </a:prstGeom>
          <a:noFill/>
        </p:spPr>
        <p:txBody>
          <a:bodyPr wrap="square">
            <a:spAutoFit/>
          </a:bodyPr>
          <a:lstStyle/>
          <a:p>
            <a:pPr>
              <a:defRPr sz="1700" b="0">
                <a:solidFill>
                  <a:srgbClr val="F5F8FF"/>
                </a:solidFill>
                <a:latin typeface="Aptos"/>
              </a:defRPr>
            </a:pPr>
            <a:r>
              <a:t>Pencegahan efektif menggabungkan vaksinasi dan kebiasaan sehat</a:t>
            </a:r>
          </a:p>
        </p:txBody>
      </p:sp>
      <p:sp>
        <p:nvSpPr>
          <p:cNvPr id="18" name="TextBox 17"/>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9" name="TextBox 18"/>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8122A"/>
        </a:solidFill>
        <a:effectLst/>
      </p:bgPr>
    </p:bg>
    <p:spTree>
      <p:nvGrpSpPr>
        <p:cNvPr id="1" name=""/>
        <p:cNvGrpSpPr/>
        <p:nvPr/>
      </p:nvGrpSpPr>
      <p:grpSpPr/>
      <p:sp>
        <p:nvSpPr>
          <p:cNvPr id="2" name="Parallelogram 1"/>
          <p:cNvSpPr/>
          <p:nvPr/>
        </p:nvSpPr>
        <p:spPr>
          <a:xfrm>
            <a:off x="9692640" y="-182880"/>
            <a:ext cx="3017520" cy="1554480"/>
          </a:xfrm>
          <a:prstGeom prst="parallelogram">
            <a:avLst/>
          </a:prstGeom>
          <a:solidFill>
            <a:srgbClr val="0E1E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620256"/>
            <a:ext cx="12191695" cy="237744"/>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11480" y="502920"/>
            <a:ext cx="64008" cy="594360"/>
          </a:xfrm>
          <a:prstGeom prst="rect">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38912"/>
            <a:ext cx="10698480" cy="384048"/>
          </a:xfrm>
          <a:prstGeom prst="rect">
            <a:avLst/>
          </a:prstGeom>
          <a:noFill/>
        </p:spPr>
        <p:txBody>
          <a:bodyPr wrap="square">
            <a:spAutoFit/>
          </a:bodyPr>
          <a:lstStyle/>
          <a:p>
            <a:pPr>
              <a:defRPr sz="1200" b="1">
                <a:solidFill>
                  <a:srgbClr val="28DCE6"/>
                </a:solidFill>
                <a:latin typeface="Aptos"/>
              </a:defRPr>
            </a:pPr>
            <a:r>
              <a:t>23  /  23     •     0:30</a:t>
            </a:r>
          </a:p>
        </p:txBody>
      </p:sp>
      <p:sp>
        <p:nvSpPr>
          <p:cNvPr id="6" name="TextBox 5"/>
          <p:cNvSpPr txBox="1"/>
          <p:nvPr/>
        </p:nvSpPr>
        <p:spPr>
          <a:xfrm>
            <a:off x="731520" y="932688"/>
            <a:ext cx="10789920" cy="530352"/>
          </a:xfrm>
          <a:prstGeom prst="rect">
            <a:avLst/>
          </a:prstGeom>
          <a:noFill/>
        </p:spPr>
        <p:txBody>
          <a:bodyPr wrap="square">
            <a:spAutoFit/>
          </a:bodyPr>
          <a:lstStyle/>
          <a:p>
            <a:pPr>
              <a:defRPr sz="3000" b="1">
                <a:solidFill>
                  <a:srgbClr val="28DCE6"/>
                </a:solidFill>
                <a:latin typeface="Aptos"/>
              </a:defRPr>
            </a:pPr>
            <a:r>
              <a:t>Terima kasih</a:t>
            </a:r>
          </a:p>
        </p:txBody>
      </p:sp>
      <p:sp>
        <p:nvSpPr>
          <p:cNvPr id="7" name="TextBox 6"/>
          <p:cNvSpPr txBox="1"/>
          <p:nvPr/>
        </p:nvSpPr>
        <p:spPr>
          <a:xfrm>
            <a:off x="749808" y="1600200"/>
            <a:ext cx="10607040" cy="457200"/>
          </a:xfrm>
          <a:prstGeom prst="rect">
            <a:avLst/>
          </a:prstGeom>
          <a:noFill/>
        </p:spPr>
        <p:txBody>
          <a:bodyPr wrap="square">
            <a:spAutoFit/>
          </a:bodyPr>
          <a:lstStyle/>
          <a:p>
            <a:pPr>
              <a:defRPr sz="1900" b="1">
                <a:solidFill>
                  <a:srgbClr val="F5F8FF"/>
                </a:solidFill>
                <a:latin typeface="Aptos"/>
              </a:defRPr>
            </a:pPr>
            <a:r>
              <a:t>Ada pertanyaan?</a:t>
            </a:r>
          </a:p>
        </p:txBody>
      </p:sp>
      <p:sp>
        <p:nvSpPr>
          <p:cNvPr id="8" name="Oval 7"/>
          <p:cNvSpPr/>
          <p:nvPr/>
        </p:nvSpPr>
        <p:spPr>
          <a:xfrm>
            <a:off x="822960" y="2322576"/>
            <a:ext cx="320040" cy="320040"/>
          </a:xfrm>
          <a:prstGeom prst="ellipse">
            <a:avLst/>
          </a:prstGeom>
          <a:solidFill>
            <a:srgbClr val="28DC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353312" y="2267712"/>
            <a:ext cx="9921240" cy="694944"/>
          </a:xfrm>
          <a:prstGeom prst="rect">
            <a:avLst/>
          </a:prstGeom>
          <a:noFill/>
        </p:spPr>
        <p:txBody>
          <a:bodyPr wrap="square">
            <a:spAutoFit/>
          </a:bodyPr>
          <a:lstStyle/>
          <a:p>
            <a:pPr>
              <a:defRPr sz="1700" b="0">
                <a:solidFill>
                  <a:srgbClr val="F5F8FF"/>
                </a:solidFill>
                <a:latin typeface="Aptos"/>
              </a:defRPr>
            </a:pPr>
            <a:r>
              <a:t>Diskusi dan pertanyaan</a:t>
            </a:r>
          </a:p>
        </p:txBody>
      </p:sp>
      <p:sp>
        <p:nvSpPr>
          <p:cNvPr id="10" name="Oval 9"/>
          <p:cNvSpPr/>
          <p:nvPr/>
        </p:nvSpPr>
        <p:spPr>
          <a:xfrm>
            <a:off x="822960" y="3035808"/>
            <a:ext cx="320040" cy="320040"/>
          </a:xfrm>
          <a:prstGeom prst="ellipse">
            <a:avLst/>
          </a:prstGeom>
          <a:solidFill>
            <a:srgbClr val="FFCF5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53312" y="2980944"/>
            <a:ext cx="9921240" cy="694944"/>
          </a:xfrm>
          <a:prstGeom prst="rect">
            <a:avLst/>
          </a:prstGeom>
          <a:noFill/>
        </p:spPr>
        <p:txBody>
          <a:bodyPr wrap="square">
            <a:spAutoFit/>
          </a:bodyPr>
          <a:lstStyle/>
          <a:p>
            <a:pPr>
              <a:defRPr sz="1700" b="0">
                <a:solidFill>
                  <a:srgbClr val="F5F8FF"/>
                </a:solidFill>
                <a:latin typeface="Aptos"/>
              </a:defRPr>
            </a:pPr>
            <a:r>
              <a:t>Sumber utama: dokumen Virus.pdf yang diberikan</a:t>
            </a:r>
          </a:p>
        </p:txBody>
      </p:sp>
      <p:sp>
        <p:nvSpPr>
          <p:cNvPr id="12" name="TextBox 11"/>
          <p:cNvSpPr txBox="1"/>
          <p:nvPr/>
        </p:nvSpPr>
        <p:spPr>
          <a:xfrm>
            <a:off x="777240" y="6236208"/>
            <a:ext cx="10058400" cy="201168"/>
          </a:xfrm>
          <a:prstGeom prst="rect">
            <a:avLst/>
          </a:prstGeom>
          <a:noFill/>
        </p:spPr>
        <p:txBody>
          <a:bodyPr wrap="square">
            <a:spAutoFit/>
          </a:bodyPr>
          <a:lstStyle/>
          <a:p>
            <a:pPr>
              <a:defRPr sz="900" b="0">
                <a:solidFill>
                  <a:srgbClr val="B4C4DA"/>
                </a:solidFill>
                <a:latin typeface="Aptos"/>
              </a:defRPr>
            </a:pPr>
            <a:r>
              <a:t>BIOLOGI  •  VIRUS</a:t>
            </a:r>
          </a:p>
        </p:txBody>
      </p:sp>
      <p:sp>
        <p:nvSpPr>
          <p:cNvPr id="13" name="TextBox 12"/>
          <p:cNvSpPr txBox="1"/>
          <p:nvPr/>
        </p:nvSpPr>
        <p:spPr>
          <a:xfrm>
            <a:off x="11109960" y="6199632"/>
            <a:ext cx="457200" cy="228600"/>
          </a:xfrm>
          <a:prstGeom prst="rect">
            <a:avLst/>
          </a:prstGeom>
          <a:noFill/>
        </p:spPr>
        <p:txBody>
          <a:bodyPr wrap="square">
            <a:spAutoFit/>
          </a:bodyPr>
          <a:lstStyle/>
          <a:p>
            <a:pPr algn="r">
              <a:defRPr sz="1000" b="0">
                <a:solidFill>
                  <a:srgbClr val="B4C4DA"/>
                </a:solidFill>
                <a:latin typeface="Aptos"/>
              </a:defRPr>
            </a:pPr>
            <a: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